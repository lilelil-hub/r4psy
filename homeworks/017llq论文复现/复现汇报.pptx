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8" r:id="rId4"/>
    <p:sldId id="273" r:id="rId5"/>
    <p:sldId id="308" r:id="rId6"/>
    <p:sldId id="309" r:id="rId7"/>
    <p:sldId id="307" r:id="rId8"/>
    <p:sldId id="310" r:id="rId9"/>
    <p:sldId id="283" r:id="rId10"/>
    <p:sldId id="304" r:id="rId11"/>
    <p:sldId id="306" r:id="rId12"/>
    <p:sldId id="305" r:id="rId13"/>
    <p:sldId id="295" r:id="rId14"/>
    <p:sldId id="272" r:id="rId15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熊仪_aYju7RJj" initials="熊" lastIdx="0" clrIdx="0"/>
  <p:cmAuthor id="1" name="哒哒 熊猫" initials="哒哒" lastIdx="1" clrIdx="0"/>
  <p:cmAuthor id="8" name="yifei" initials="y" lastIdx="1" clrIdx="7"/>
  <p:cmAuthor id="2" name="kingsoft" initials="k" lastIdx="1" clrIdx="1"/>
  <p:cmAuthor id="9" name="ADMIN" initials="A" lastIdx="1" clrIdx="8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A44"/>
    <a:srgbClr val="EFF7E8"/>
    <a:srgbClr val="C9E5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2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hyperlink" Target="https://osf.io/nbkvg/" TargetMode="External"/><Relationship Id="rId8" Type="http://schemas.openxmlformats.org/officeDocument/2006/relationships/hyperlink" Target="https://osf.io/k64yt/%EF%BC%9Bdelayed" TargetMode="External"/><Relationship Id="rId7" Type="http://schemas.openxmlformats.org/officeDocument/2006/relationships/hyperlink" Target="https://osf.io/ckw86/%EF%BC%9Bdelayed" TargetMode="External"/><Relationship Id="rId6" Type="http://schemas.openxmlformats.org/officeDocument/2006/relationships/hyperlink" Target="https://osf.io/8twa9/%EF%BC%9Bimmediate" TargetMode="External"/><Relationship Id="rId5" Type="http://schemas.openxmlformats.org/officeDocument/2006/relationships/hyperlink" Target="https://osf.io/ivfu6/%EF%BC%9B%E5%A4%8D%E7%8E%B0%E6%8A%A5%E5%91%8A%EF%BC%9Ahttps://osf.io/7kimb/%EF%BC%9BRPP" TargetMode="External"/><Relationship Id="rId4" Type="http://schemas.openxmlformats.org/officeDocument/2006/relationships/hyperlink" Target="https://doi.org/10.3389/fpsyg.2014.00786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9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2" Type="http://schemas.openxmlformats.org/officeDocument/2006/relationships/image" Target="../media/image11.png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9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20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直角三角形 4"/>
          <p:cNvSpPr/>
          <p:nvPr/>
        </p:nvSpPr>
        <p:spPr>
          <a:xfrm rot="5400000">
            <a:off x="0" y="0"/>
            <a:ext cx="3716655" cy="3716655"/>
          </a:xfrm>
          <a:prstGeom prst="rtTriangle">
            <a:avLst/>
          </a:prstGeom>
          <a:solidFill>
            <a:srgbClr val="006A4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直角三角形 5"/>
          <p:cNvSpPr/>
          <p:nvPr/>
        </p:nvSpPr>
        <p:spPr>
          <a:xfrm rot="16200000">
            <a:off x="8484870" y="3169920"/>
            <a:ext cx="3716655" cy="3716655"/>
          </a:xfrm>
          <a:prstGeom prst="rtTriangle">
            <a:avLst/>
          </a:prstGeom>
          <a:solidFill>
            <a:srgbClr val="006A4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42570" y="680085"/>
            <a:ext cx="11707495" cy="55022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42570" y="680085"/>
            <a:ext cx="11707495" cy="5502275"/>
          </a:xfrm>
          <a:prstGeom prst="rect">
            <a:avLst/>
          </a:prstGeom>
          <a:blipFill rotWithShape="1">
            <a:blip r:embed="rId1">
              <a:alphaModFix amt="15000"/>
            </a:blip>
            <a:stretch>
              <a:fillRect/>
            </a:stretch>
          </a:blipFill>
          <a:ln>
            <a:noFill/>
          </a:ln>
          <a:effectLst>
            <a:outerShdw blurRad="127000" dist="635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40005" indent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Measuring the crowd within again: a pre-registered replication study. </a:t>
            </a:r>
            <a:endParaRPr lang="en-US" altLang="zh-CN" sz="3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0005" indent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3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Frontiers in Psychology, 5, Article 786. </a:t>
            </a:r>
            <a:endParaRPr lang="en-US" altLang="zh-CN" sz="36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5640" y="2154555"/>
            <a:ext cx="10187305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endParaRPr lang="en-US" altLang="zh-CN" sz="2400" i="1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直角三角形 4"/>
          <p:cNvSpPr/>
          <p:nvPr/>
        </p:nvSpPr>
        <p:spPr>
          <a:xfrm rot="5400000">
            <a:off x="0" y="0"/>
            <a:ext cx="3716655" cy="3716655"/>
          </a:xfrm>
          <a:prstGeom prst="rtTriangle">
            <a:avLst/>
          </a:prstGeom>
          <a:solidFill>
            <a:srgbClr val="006A4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直角三角形 5"/>
          <p:cNvSpPr/>
          <p:nvPr/>
        </p:nvSpPr>
        <p:spPr>
          <a:xfrm rot="16200000">
            <a:off x="8484870" y="3169920"/>
            <a:ext cx="3716655" cy="3716655"/>
          </a:xfrm>
          <a:prstGeom prst="rtTriangle">
            <a:avLst/>
          </a:prstGeom>
          <a:solidFill>
            <a:srgbClr val="006A4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42570" y="680085"/>
            <a:ext cx="11707495" cy="55022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前言</a:t>
            </a:r>
            <a:endParaRPr lang="zh-CN" altLang="en-US"/>
          </a:p>
          <a:p>
            <a:pPr algn="ctr"/>
            <a:r>
              <a:rPr lang="zh-CN" altLang="en-US"/>
              <a:t>深度语言模型可映深度语言模型可映射到大脑活动</a:t>
            </a:r>
            <a:endParaRPr lang="zh-CN" altLang="en-US"/>
          </a:p>
          <a:p>
            <a:pPr algn="ctr"/>
            <a:r>
              <a:rPr lang="zh-CN" altLang="en-US"/>
              <a:t>前言</a:t>
            </a:r>
            <a:endParaRPr lang="zh-CN" altLang="en-US"/>
          </a:p>
          <a:p>
            <a:pPr algn="ctr"/>
            <a:r>
              <a:rPr lang="zh-CN" altLang="en-US"/>
              <a:t>深度语言模型可映深度语言模型可映射到大脑活动</a:t>
            </a:r>
            <a:endParaRPr lang="zh-CN" altLang="en-US"/>
          </a:p>
          <a:p>
            <a:pPr algn="ctr"/>
            <a:r>
              <a:rPr lang="zh-CN" altLang="en-US"/>
              <a:t>在大脑中分离出长程预测</a:t>
            </a:r>
            <a:endParaRPr lang="zh-CN" altLang="en-US"/>
          </a:p>
          <a:p>
            <a:pPr algn="ctr"/>
            <a:r>
              <a:rPr lang="zh-CN" altLang="en-US"/>
              <a:t>预测的时间范围沿大脑层级结构变化</a:t>
            </a:r>
            <a:endParaRPr lang="zh-CN" altLang="en-US"/>
          </a:p>
          <a:p>
            <a:pPr algn="ctr"/>
            <a:r>
              <a:rPr lang="zh-CN" altLang="en-US"/>
              <a:t>句法和语义预测呈现出不同的时间范围</a:t>
            </a:r>
            <a:endParaRPr lang="zh-CN" altLang="en-US"/>
          </a:p>
          <a:p>
            <a:pPr algn="ctr"/>
            <a:r>
              <a:rPr lang="zh-CN" altLang="en-US"/>
              <a:t>预预测的层级化：从具体到抽象</a:t>
            </a:r>
            <a:endParaRPr lang="zh-CN" altLang="en-US"/>
          </a:p>
          <a:p>
            <a:pPr algn="ctr"/>
            <a:r>
              <a:rPr lang="zh-CN" altLang="en-US"/>
              <a:t>句法和语义预测呈现出不同的时间范离出长程预测</a:t>
            </a:r>
            <a:endParaRPr lang="zh-CN" altLang="en-US"/>
          </a:p>
          <a:p>
            <a:pPr algn="ctr"/>
            <a:r>
              <a:rPr lang="zh-CN" altLang="en-US"/>
              <a:t>预测的时间范围沿大脑层级结构变化</a:t>
            </a:r>
            <a:endParaRPr lang="zh-CN" altLang="en-US"/>
          </a:p>
          <a:p>
            <a:pPr algn="ctr"/>
            <a:r>
              <a:rPr lang="zh-CN" altLang="en-US"/>
              <a:t>句法和语义预测呈现出不同的时间范围</a:t>
            </a:r>
            <a:endParaRPr lang="zh-CN" altLang="en-US"/>
          </a:p>
          <a:p>
            <a:pPr algn="ctr"/>
            <a:r>
              <a:rPr lang="zh-CN" altLang="en-US"/>
              <a:t>预预测的层级化：从具体到抽象</a:t>
            </a:r>
            <a:endParaRPr lang="zh-CN" altLang="en-US"/>
          </a:p>
          <a:p>
            <a:pPr algn="ctr"/>
            <a:r>
              <a:rPr lang="zh-CN" altLang="en-US"/>
              <a:t>句法和语义预测呈现出不同的时间范围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972685" y="754380"/>
            <a:ext cx="2058035" cy="922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5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lang="zh-CN" altLang="en-US" sz="5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20030" y="1676400"/>
            <a:ext cx="1710690" cy="46037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>
                <a:latin typeface="黑体" panose="02010609060101010101" charset="-122"/>
                <a:ea typeface="黑体" panose="02010609060101010101" charset="-122"/>
              </a:rPr>
              <a:t>CONTENTS</a:t>
            </a:r>
            <a:endParaRPr lang="en-US" altLang="zh-CN" sz="2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93190" y="2432050"/>
            <a:ext cx="1030160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14350" indent="-514350" algn="l">
              <a:buFont typeface="+mj-lt"/>
              <a:buAutoNum type="arabicPeriod"/>
            </a:pPr>
            <a:r>
              <a:rPr lang="zh-CN" altLang="en-US" sz="3200" b="1" dirty="0">
                <a:solidFill>
                  <a:srgbClr val="000000">
                    <a:lumMod val="75000"/>
                    <a:lumOff val="2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思源宋体 CN Light" panose="02020300000000000000" pitchFamily="18" charset="-122"/>
              </a:rPr>
              <a:t>基本信息</a:t>
            </a:r>
            <a:endParaRPr lang="zh-CN" altLang="en-US" sz="3200" b="1" dirty="0">
              <a:solidFill>
                <a:srgbClr val="000000">
                  <a:lumMod val="75000"/>
                  <a:lumOff val="25000"/>
                </a:srgb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思源宋体 CN Light" panose="02020300000000000000" pitchFamily="18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3200" b="1" dirty="0">
                <a:solidFill>
                  <a:srgbClr val="000000">
                    <a:lumMod val="75000"/>
                    <a:lumOff val="2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思源宋体 CN Light" panose="02020300000000000000" pitchFamily="18" charset="-122"/>
              </a:rPr>
              <a:t>数据清洗</a:t>
            </a:r>
            <a:endParaRPr lang="zh-CN" altLang="en-US" sz="3200" b="1" dirty="0">
              <a:solidFill>
                <a:srgbClr val="000000">
                  <a:lumMod val="75000"/>
                  <a:lumOff val="25000"/>
                </a:srgb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思源宋体 CN Light" panose="02020300000000000000" pitchFamily="18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3200" b="1" dirty="0">
                <a:solidFill>
                  <a:srgbClr val="000000">
                    <a:lumMod val="75000"/>
                    <a:lumOff val="25000"/>
                  </a:srgb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思源宋体 CN Light" panose="02020300000000000000" pitchFamily="18" charset="-122"/>
              </a:rPr>
              <a:t>主结论复现</a:t>
            </a:r>
            <a:endParaRPr lang="zh-CN" altLang="en-US" sz="3200" b="1" dirty="0">
              <a:solidFill>
                <a:srgbClr val="000000">
                  <a:lumMod val="75000"/>
                  <a:lumOff val="25000"/>
                </a:srgb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思源宋体 CN Light" panose="02020300000000000000" pitchFamily="18" charset="-122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3200" b="1" i="1">
                <a:latin typeface="黑体" panose="02010609060101010101" charset="-122"/>
                <a:ea typeface="黑体" panose="02010609060101010101" charset="-122"/>
                <a:sym typeface="+mn-ea"/>
              </a:rPr>
              <a:t>补充分析及结论</a:t>
            </a:r>
            <a:endParaRPr lang="zh-CN" altLang="en-US" sz="3200" b="1" i="1">
              <a:latin typeface="黑体" panose="02010609060101010101" charset="-122"/>
              <a:ea typeface="黑体" panose="02010609060101010101" charset="-122"/>
              <a:sym typeface="+mn-ea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zh-CN" altLang="en-US" sz="3200" b="1" i="1">
                <a:latin typeface="黑体" panose="02010609060101010101" charset="-122"/>
                <a:ea typeface="黑体" panose="02010609060101010101" charset="-122"/>
                <a:sym typeface="+mn-ea"/>
              </a:rPr>
              <a:t>复现结果总结</a:t>
            </a:r>
            <a:endParaRPr lang="zh-CN" altLang="en-US" sz="3200" b="1" i="1">
              <a:latin typeface="黑体" panose="02010609060101010101" charset="-122"/>
              <a:ea typeface="黑体" panose="02010609060101010101" charset="-122"/>
            </a:endParaRPr>
          </a:p>
          <a:p>
            <a:pPr marL="514350" indent="-514350" algn="l">
              <a:buFont typeface="+mj-lt"/>
              <a:buAutoNum type="arabicPeriod"/>
            </a:pPr>
            <a:endParaRPr lang="zh-CN" altLang="en-US" sz="3200" b="1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1419212" y="30109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一基本信息</a:t>
            </a:r>
            <a:endParaRPr lang="zh-CN" alt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黑体" panose="02010609060101010101" charset="-122"/>
              <a:ea typeface="黑体" panose="02010609060101010101" charset="-122"/>
              <a:sym typeface="思源宋体 CN Light" panose="02020300000000000000" pitchFamily="18" charset="-122"/>
            </a:endParaRPr>
          </a:p>
        </p:txBody>
      </p: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pic>
        <p:nvPicPr>
          <p:cNvPr id="3" name="图片 2" descr="南京师范大学（黑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80" y="-310515"/>
            <a:ext cx="2285365" cy="1615440"/>
          </a:xfrm>
          <a:prstGeom prst="rect">
            <a:avLst/>
          </a:prstGeom>
        </p:spPr>
      </p:pic>
      <p:pic>
        <p:nvPicPr>
          <p:cNvPr id="4" name="图片 3" descr="校徽-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080" y="20320"/>
            <a:ext cx="640715" cy="90678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-106680" y="4053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12775" y="88360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文献基本信息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673735" y="1537653"/>
          <a:ext cx="10485120" cy="1722120"/>
        </p:xfrm>
        <a:graphic>
          <a:graphicData uri="http://schemas.openxmlformats.org/drawingml/2006/table">
            <a:tbl>
              <a:tblPr/>
              <a:tblGrid>
                <a:gridCol w="2889250"/>
                <a:gridCol w="7595870"/>
              </a:tblGrid>
              <a:tr h="0"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</a:t>
                      </a:r>
                      <a:endParaRPr lang="zh-CN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  <a:endParaRPr lang="zh-CN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所选文献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Steegen, S., Dewitte, L., Tuerlinckx, F., &amp; Vanpaemel, W. (2014). </a:t>
                      </a:r>
                      <a:r>
                        <a:rPr lang="en-US" altLang="zh-CN" sz="2000" i="1">
                          <a:latin typeface="Times New Roman" panose="02020603050405020304"/>
                          <a:ea typeface="Times New Roman" panose="02020603050405020304"/>
                        </a:rPr>
                        <a:t>Measuring the crowd within again: a pre-registered replication study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 </a:t>
                      </a:r>
                      <a:r>
                        <a:rPr lang="en-US" altLang="zh-CN" sz="2000" i="1">
                          <a:latin typeface="Times New Roman" panose="02020603050405020304"/>
                          <a:ea typeface="Times New Roman" panose="02020603050405020304"/>
                        </a:rPr>
                        <a:t>Frontiers in Psychology, 5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, Article 786. 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4"/>
                        </a:rPr>
                        <a:t>https://doi.org/10.3389/fpsyg.2014.00786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  <a:hlinkClick r:id="rId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原始研究文献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Vul, E., &amp; Pashler, H. (2008). </a:t>
                      </a:r>
                      <a:r>
                        <a:rPr lang="en-US" altLang="zh-CN" sz="2000" i="1">
                          <a:latin typeface="Times New Roman" panose="02020603050405020304"/>
                          <a:ea typeface="Times New Roman" panose="02020603050405020304"/>
                        </a:rPr>
                        <a:t>Measuring the crowd within: Probabilistic representations within individuals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 </a:t>
                      </a:r>
                      <a:r>
                        <a:rPr lang="en-US" altLang="zh-CN" sz="2000" i="1">
                          <a:latin typeface="Times New Roman" panose="02020603050405020304"/>
                          <a:ea typeface="Times New Roman" panose="02020603050405020304"/>
                        </a:rPr>
                        <a:t>Psychological Science, 19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(7), 645–647.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数据来源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OSF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项目页：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5"/>
                        </a:rPr>
                        <a:t>https://osf.io/ivfu6/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5"/>
                        </a:rPr>
                        <a:t>；复现报告：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5"/>
                        </a:rPr>
                        <a:t>https://osf.io/7kimb/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5"/>
                        </a:rPr>
                        <a:t>；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5"/>
                        </a:rPr>
                        <a:t>RPP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代码来源：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https://osf.io/8twa9/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；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6"/>
                        </a:rPr>
                        <a:t>immediate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condition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数据：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7"/>
                        </a:rPr>
                        <a:t>https://osf.io/ckw86/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7"/>
                        </a:rPr>
                        <a:t>；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7"/>
                        </a:rPr>
                        <a:t>delayed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session 1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数据：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8"/>
                        </a:rPr>
                        <a:t>https://osf.io/k64yt/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8"/>
                        </a:rPr>
                        <a:t>；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8"/>
                        </a:rPr>
                        <a:t>delayed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session 2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数据：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9"/>
                        </a:rPr>
                        <a:t>https://osf.io/nbkvg/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  <a:hlinkClick r:id="rId9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1419212" y="30109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一基本信息</a:t>
            </a:r>
            <a:endParaRPr lang="zh-CN" alt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黑体" panose="02010609060101010101" charset="-122"/>
              <a:ea typeface="黑体" panose="02010609060101010101" charset="-122"/>
              <a:sym typeface="思源宋体 CN Light" panose="02020300000000000000" pitchFamily="18" charset="-122"/>
            </a:endParaRPr>
          </a:p>
        </p:txBody>
      </p: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pic>
        <p:nvPicPr>
          <p:cNvPr id="3" name="图片 2" descr="南京师范大学（黑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80" y="-310515"/>
            <a:ext cx="2285365" cy="1615440"/>
          </a:xfrm>
          <a:prstGeom prst="rect">
            <a:avLst/>
          </a:prstGeom>
        </p:spPr>
      </p:pic>
      <p:pic>
        <p:nvPicPr>
          <p:cNvPr id="4" name="图片 3" descr="校徽-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080" y="20320"/>
            <a:ext cx="640715" cy="90678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-106680" y="4053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3055" y="104552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文献选取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931545" y="2042478"/>
          <a:ext cx="10485120" cy="2861310"/>
        </p:xfrm>
        <a:graphic>
          <a:graphicData uri="http://schemas.openxmlformats.org/drawingml/2006/table">
            <a:tbl>
              <a:tblPr/>
              <a:tblGrid>
                <a:gridCol w="2696845"/>
                <a:gridCol w="7788275"/>
              </a:tblGrid>
              <a:tr h="0"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</a:t>
                      </a:r>
                      <a:endParaRPr lang="zh-CN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  <a:endParaRPr lang="zh-CN" sz="2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文献主题是否包含不止一篇研究？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是，但不包含元分析研究。该主题包含原始研究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Vul and Pashler (2008)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以及 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Steegen et al. (2014)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的预注册复现研究，并且 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Steegen et al.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文中还讨论了其他相关复现尝试。</a:t>
                      </a:r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文献此前被其他研究者重复过？</a:t>
                      </a:r>
                      <a:endParaRPr lang="zh-CN" sz="2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是。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Steegen et al. (2014)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本身就是对 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Vul and Pashler (2008) “crowd within” </a:t>
                      </a:r>
                      <a:r>
                        <a:rPr lang="zh-CN" altLang="en-US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效应的预注册复现研究。原始研究文献为 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Vul, E., &amp; Pashler, H. (2008). </a:t>
                      </a:r>
                      <a:r>
                        <a:rPr lang="en-US" altLang="zh-CN" sz="2000" i="1">
                          <a:latin typeface="Times New Roman" panose="02020603050405020304"/>
                          <a:ea typeface="Times New Roman" panose="02020603050405020304"/>
                        </a:rPr>
                        <a:t>Measuring the crowd within: Probabilistic representations within individuals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. </a:t>
                      </a:r>
                      <a:r>
                        <a:rPr lang="en-US" altLang="zh-CN" sz="2000" i="1">
                          <a:latin typeface="Times New Roman" panose="02020603050405020304"/>
                          <a:ea typeface="Times New Roman" panose="02020603050405020304"/>
                        </a:rPr>
                        <a:t>Psychological Science, 19</a:t>
                      </a:r>
                      <a:r>
                        <a:rPr lang="en-US" alt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(7), 645–647.</a:t>
                      </a:r>
                      <a:endParaRPr lang="en-US" alt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1419212" y="30109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一基本信息</a:t>
            </a:r>
            <a:endParaRPr lang="zh-CN" alt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黑体" panose="02010609060101010101" charset="-122"/>
              <a:ea typeface="黑体" panose="02010609060101010101" charset="-122"/>
              <a:sym typeface="思源宋体 CN Light" panose="02020300000000000000" pitchFamily="18" charset="-122"/>
            </a:endParaRPr>
          </a:p>
        </p:txBody>
      </p: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pic>
        <p:nvPicPr>
          <p:cNvPr id="3" name="图片 2" descr="南京师范大学（黑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80" y="-310515"/>
            <a:ext cx="2285365" cy="1615440"/>
          </a:xfrm>
          <a:prstGeom prst="rect">
            <a:avLst/>
          </a:prstGeom>
        </p:spPr>
      </p:pic>
      <p:pic>
        <p:nvPicPr>
          <p:cNvPr id="4" name="图片 3" descr="校徽-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080" y="20320"/>
            <a:ext cx="640715" cy="90678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-106680" y="4053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9565" y="89566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 3.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研究假设选取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4"/>
            </p:custDataLst>
          </p:nvPr>
        </p:nvGraphicFramePr>
        <p:xfrm>
          <a:off x="612775" y="1417955"/>
          <a:ext cx="10816590" cy="5015865"/>
        </p:xfrm>
        <a:graphic>
          <a:graphicData uri="http://schemas.openxmlformats.org/drawingml/2006/table">
            <a:tbl>
              <a:tblPr/>
              <a:tblGrid>
                <a:gridCol w="2190115"/>
                <a:gridCol w="8626475"/>
              </a:tblGrid>
              <a:tr h="354330"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</a:t>
                      </a:r>
                      <a:endParaRPr lang="zh-CN" sz="2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</a:t>
                      </a:r>
                      <a:endParaRPr lang="zh-CN" sz="20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9100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重复的研究假设</a:t>
                      </a:r>
                      <a:endParaRPr 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本报告复现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Steegen et al. (2014)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immediate condition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delayed condition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的核心行为结果，即同一被试对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个常识估计题进行两次估计后，两次估计平均值的平均平方误差（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MSE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）是否显著低于单次估计的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MSE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。具体检验包括：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immediate condition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Guess 1 vs. Average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Guess 2 vs. Average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，以及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delayed condition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Guess 1 vs. Average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Guess 2 vs. Average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。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Steegen et al. (2014)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主要包含两个实验条件：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immediate condition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和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delayed condition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。本报告复现这两个条件中的核心行为结果。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0995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重复的研究假设是否在其他研究中经过重复？</a:t>
                      </a:r>
                      <a:endParaRPr 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是。该假设最早来自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Vul and Pashler (2008)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Steegen et al. (2014)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对其进行了预注册复现。本报告进一步对 </a:t>
                      </a: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Steegen et al. (2014) 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公开数据和代码中的核心统计结果进行计算可复现性检验。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8985"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1419212" y="30109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一基本信息</a:t>
            </a:r>
            <a:endParaRPr lang="zh-CN" alt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黑体" panose="02010609060101010101" charset="-122"/>
              <a:ea typeface="黑体" panose="02010609060101010101" charset="-122"/>
              <a:sym typeface="思源宋体 CN Light" panose="02020300000000000000" pitchFamily="18" charset="-122"/>
            </a:endParaRPr>
          </a:p>
        </p:txBody>
      </p: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pic>
        <p:nvPicPr>
          <p:cNvPr id="3" name="图片 2" descr="南京师范大学（黑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80" y="-310515"/>
            <a:ext cx="2285365" cy="1615440"/>
          </a:xfrm>
          <a:prstGeom prst="rect">
            <a:avLst/>
          </a:prstGeom>
        </p:spPr>
      </p:pic>
      <p:pic>
        <p:nvPicPr>
          <p:cNvPr id="4" name="图片 3" descr="校徽-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080" y="20320"/>
            <a:ext cx="640715" cy="90678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-106680" y="4053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54355" y="1236980"/>
            <a:ext cx="10991215" cy="4707890"/>
          </a:xfrm>
          <a:prstGeom prst="rect">
            <a:avLst/>
          </a:prstGeom>
        </p:spPr>
        <p:txBody>
          <a:bodyPr wrap="square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本研究旨在探讨个体内部的群体智慧（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the crowd within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），即同一个人对同一问题做两次估计，其平均值是否比单次估计更准确。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Vul &amp; Pashler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2008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）提出，人的初始估计可能来自于内部概率分布的抽样，而非确定性的最佳猜测。基于这一假设，如果两次估计之间的噪声至少部分独立，那么两次估计的平均值将比单次估计更准确。研究招募了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428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名互联网参与者，要求他们回答八个现实知识问题。参与者被随机分配到两种条件之一：立即条件（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Immediate Condition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），在第一次回答后立即进行第二次估计；延迟条件（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Delayed Condition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），在三周后进行第二次估计。结果显示，无论是立即条件还是延迟条件，平均估计的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MSE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（均方误差）均低于单次估计的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MSE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且延迟条件带来的平均收益更大。这表明个体知识可能以概率分布形式存储，且时间间隔可以增加两次估计的独立性，从而提升判断准确性。研究支持“一个人脑中的群体智慧”存在的假设，并为“睡一觉再决定”（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sleeping on it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）提供了量化证据。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7" name="文本框 16"/>
          <p:cNvSpPr txBox="1"/>
          <p:nvPr/>
        </p:nvSpPr>
        <p:spPr>
          <a:xfrm>
            <a:off x="1419212" y="301090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defTabSz="266700">
              <a:spcBef>
                <a:spcPts val="500"/>
              </a:spcBef>
              <a:spcAft>
                <a:spcPts val="500"/>
              </a:spcAft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二数据清洗</a:t>
            </a:r>
            <a:endParaRPr lang="zh-CN" altLang="en-US" sz="2800" b="1" dirty="0">
              <a:solidFill>
                <a:srgbClr val="000000">
                  <a:lumMod val="75000"/>
                  <a:lumOff val="25000"/>
                </a:srgbClr>
              </a:solidFill>
              <a:latin typeface="黑体" panose="02010609060101010101" charset="-122"/>
              <a:ea typeface="黑体" panose="02010609060101010101" charset="-122"/>
              <a:sym typeface="思源宋体 CN Light" panose="02020300000000000000" pitchFamily="18" charset="-122"/>
            </a:endParaRPr>
          </a:p>
        </p:txBody>
      </p: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pic>
        <p:nvPicPr>
          <p:cNvPr id="3" name="图片 2" descr="南京师范大学（黑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080" y="-310515"/>
            <a:ext cx="2285365" cy="1615440"/>
          </a:xfrm>
          <a:prstGeom prst="rect">
            <a:avLst/>
          </a:prstGeom>
        </p:spPr>
      </p:pic>
      <p:pic>
        <p:nvPicPr>
          <p:cNvPr id="4" name="图片 3" descr="校徽-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080" y="20320"/>
            <a:ext cx="640715" cy="90678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-106680" y="40532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55" y="1304925"/>
            <a:ext cx="9170670" cy="26142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44600" y="327660"/>
            <a:ext cx="909891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三</a:t>
            </a:r>
            <a:r>
              <a:rPr lang="en-US" altLang="zh-CN" sz="2000" b="1" i="1">
                <a:latin typeface="黑体" panose="02010609060101010101" charset="-122"/>
                <a:ea typeface="黑体" panose="02010609060101010101" charset="-122"/>
              </a:rPr>
              <a:t>.</a:t>
            </a:r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主结论复现</a:t>
            </a:r>
            <a:endParaRPr lang="zh-CN" altLang="en-US" sz="2000" b="1" i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4355" y="1150620"/>
            <a:ext cx="4895215" cy="455676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Immediate Condition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（即时条件）</a:t>
            </a:r>
            <a:endParaRPr lang="zh-CN" altLang="en-US"/>
          </a:p>
          <a:p>
            <a:pPr indent="0">
              <a:buFont typeface="Arial" panose="020B0604020202020204"/>
              <a:buNone/>
            </a:pPr>
            <a:r>
              <a:rPr lang="zh-CN" altLang="en-US" b="1"/>
              <a:t>条件：</a:t>
            </a:r>
            <a:r>
              <a:rPr lang="zh-CN" altLang="en-US"/>
              <a:t> </a:t>
            </a:r>
            <a:endParaRPr lang="zh-CN" altLang="en-US"/>
          </a:p>
          <a:p>
            <a:pPr indent="0">
              <a:buFont typeface="Arial" panose="020B0604020202020204"/>
              <a:buNone/>
            </a:pPr>
            <a:r>
              <a:rPr lang="zh-CN" altLang="en-US"/>
              <a:t>被试完成 </a:t>
            </a:r>
            <a:r>
              <a:rPr lang="en-US" altLang="zh-CN"/>
              <a:t>8 </a:t>
            </a:r>
            <a:r>
              <a:rPr lang="zh-CN" altLang="en-US"/>
              <a:t>个问题的第一次估计（</a:t>
            </a:r>
            <a:r>
              <a:rPr lang="en-US" altLang="zh-CN"/>
              <a:t>Guess 1</a:t>
            </a:r>
            <a:r>
              <a:rPr lang="zh-CN" altLang="en-US"/>
              <a:t>） </a:t>
            </a:r>
            <a:endParaRPr lang="zh-CN" altLang="en-US"/>
          </a:p>
          <a:p>
            <a:pPr indent="0">
              <a:buFont typeface="Arial" panose="020B0604020202020204"/>
              <a:buNone/>
            </a:pPr>
            <a:r>
              <a:rPr lang="zh-CN" altLang="en-US"/>
              <a:t>紧接着做第二次估计（</a:t>
            </a:r>
            <a:r>
              <a:rPr lang="en-US" altLang="zh-CN"/>
              <a:t>Guess 2</a:t>
            </a:r>
            <a:r>
              <a:rPr lang="zh-CN" altLang="en-US"/>
              <a:t>） </a:t>
            </a:r>
            <a:endParaRPr lang="zh-CN" altLang="en-US"/>
          </a:p>
          <a:p>
            <a:pPr indent="0">
              <a:buFont typeface="Arial" panose="020B0604020202020204"/>
              <a:buNone/>
            </a:pPr>
            <a:r>
              <a:rPr lang="zh-CN" altLang="en-US" b="1"/>
              <a:t>指标计算：</a:t>
            </a:r>
            <a:r>
              <a:rPr lang="zh-CN" altLang="en-US"/>
              <a:t> </a:t>
            </a:r>
            <a:endParaRPr lang="zh-CN" altLang="en-US"/>
          </a:p>
          <a:p>
            <a:pPr indent="0" fontAlgn="auto">
              <a:buFont typeface="Arial" panose="020B0604020202020204"/>
              <a:buNone/>
            </a:pPr>
            <a:r>
              <a:rPr lang="en-US" altLang="zh-CN"/>
              <a:t>Guess 1 MSE</a:t>
            </a:r>
            <a:r>
              <a:rPr lang="zh-CN" altLang="en-US"/>
              <a:t>、</a:t>
            </a:r>
            <a:r>
              <a:rPr lang="en-US" altLang="zh-CN"/>
              <a:t>SD </a:t>
            </a:r>
            <a:endParaRPr lang="en-US" altLang="zh-CN"/>
          </a:p>
          <a:p>
            <a:pPr indent="0" fontAlgn="auto">
              <a:buFont typeface="Arial" panose="020B0604020202020204"/>
              <a:buNone/>
            </a:pPr>
            <a:r>
              <a:rPr lang="en-US" altLang="zh-CN"/>
              <a:t>Guess 2 MSE</a:t>
            </a:r>
            <a:r>
              <a:rPr lang="zh-CN" altLang="en-US"/>
              <a:t>、</a:t>
            </a:r>
            <a:r>
              <a:rPr lang="en-US" altLang="zh-CN"/>
              <a:t>SD </a:t>
            </a:r>
            <a:endParaRPr lang="en-US" altLang="zh-CN"/>
          </a:p>
          <a:p>
            <a:pPr indent="0" fontAlgn="auto">
              <a:buFont typeface="Arial" panose="020B0604020202020204"/>
              <a:buNone/>
            </a:pPr>
            <a:r>
              <a:rPr lang="zh-CN" altLang="en-US"/>
              <a:t>两次估计平均值 </a:t>
            </a:r>
            <a:r>
              <a:rPr lang="en-US" altLang="zh-CN"/>
              <a:t>MSE</a:t>
            </a:r>
            <a:r>
              <a:rPr lang="zh-CN" altLang="en-US"/>
              <a:t>、</a:t>
            </a:r>
            <a:r>
              <a:rPr lang="en-US" altLang="zh-CN"/>
              <a:t>SD </a:t>
            </a:r>
            <a:endParaRPr lang="en-US" altLang="zh-CN"/>
          </a:p>
          <a:p>
            <a:pPr indent="0" fontAlgn="auto">
              <a:buFont typeface="Arial" panose="020B0604020202020204"/>
              <a:buNone/>
            </a:pPr>
            <a:r>
              <a:rPr lang="zh-CN" altLang="en-US"/>
              <a:t>配对 </a:t>
            </a:r>
            <a:r>
              <a:rPr lang="en-US" altLang="zh-CN"/>
              <a:t>t </a:t>
            </a:r>
            <a:r>
              <a:rPr lang="zh-CN" altLang="en-US"/>
              <a:t>检验：</a:t>
            </a:r>
            <a:r>
              <a:rPr lang="en-US" altLang="zh-CN"/>
              <a:t>Guess 1 vs Average, Guess 2 vs Average </a:t>
            </a:r>
            <a:endParaRPr lang="en-US" altLang="zh-CN"/>
          </a:p>
          <a:p>
            <a:pPr indent="0" fontAlgn="auto">
              <a:buFont typeface="Arial" panose="020B0604020202020204"/>
              <a:buNone/>
            </a:pPr>
            <a:r>
              <a:rPr lang="en-US" altLang="zh-CN"/>
              <a:t>Cohen’s dz </a:t>
            </a:r>
            <a:r>
              <a:rPr lang="zh-CN" altLang="en-US"/>
              <a:t>和 </a:t>
            </a:r>
            <a:r>
              <a:rPr lang="en-US" altLang="zh-CN"/>
              <a:t>95% CI </a:t>
            </a:r>
            <a:endParaRPr lang="en-US" altLang="zh-CN"/>
          </a:p>
          <a:p>
            <a:pPr indent="0" fontAlgn="auto">
              <a:buFont typeface="Arial" panose="020B0604020202020204"/>
              <a:buNone/>
            </a:pPr>
            <a:r>
              <a:rPr lang="en-US" altLang="zh-CN"/>
              <a:t>guess </a:t>
            </a:r>
            <a:r>
              <a:rPr lang="zh-CN" altLang="en-US"/>
              <a:t>与平均值的相关系数 </a:t>
            </a:r>
            <a:r>
              <a:rPr lang="en-US" altLang="zh-CN"/>
              <a:t>r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30676"/>
          <a:stretch>
            <a:fillRect/>
          </a:stretch>
        </p:blipFill>
        <p:spPr>
          <a:xfrm>
            <a:off x="5090795" y="994410"/>
            <a:ext cx="6572250" cy="19545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b="15480"/>
          <a:stretch>
            <a:fillRect/>
          </a:stretch>
        </p:blipFill>
        <p:spPr>
          <a:xfrm>
            <a:off x="5090795" y="3033395"/>
            <a:ext cx="6648450" cy="16503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" y="4831080"/>
            <a:ext cx="10504805" cy="101028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44600" y="327660"/>
            <a:ext cx="909891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三</a:t>
            </a:r>
            <a:r>
              <a:rPr lang="en-US" altLang="zh-CN" sz="2000" b="1" i="1">
                <a:latin typeface="黑体" panose="02010609060101010101" charset="-122"/>
                <a:ea typeface="黑体" panose="02010609060101010101" charset="-122"/>
              </a:rPr>
              <a:t>.</a:t>
            </a:r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主结论复现</a:t>
            </a:r>
            <a:endParaRPr lang="zh-CN" altLang="en-US" sz="2000" b="1" i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7200" y="1032510"/>
            <a:ext cx="476694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Delayed Condition（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延迟条件，3 周后）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被试第一次估计（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Session 1）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周后第二次估计（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Session 2）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指标计算：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Guess 1 MSE、SD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Guess 2 MSE、SD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两次估计平均值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MSE、SD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配对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Guess 1 vs Average, Guess 2 vs Average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Cohen’s dz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95%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guess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与平均值的相关系数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32094"/>
          <a:stretch>
            <a:fillRect/>
          </a:stretch>
        </p:blipFill>
        <p:spPr>
          <a:xfrm>
            <a:off x="5300980" y="902970"/>
            <a:ext cx="6629400" cy="14617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980" y="2452370"/>
            <a:ext cx="6648450" cy="1952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75" y="5565140"/>
            <a:ext cx="10119360" cy="998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90" y="4406900"/>
            <a:ext cx="10506075" cy="10191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44600" y="327660"/>
            <a:ext cx="909891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四</a:t>
            </a:r>
            <a:r>
              <a:rPr lang="en-US" altLang="zh-CN" sz="2000" b="1" i="1">
                <a:latin typeface="黑体" panose="02010609060101010101" charset="-122"/>
                <a:ea typeface="黑体" panose="02010609060101010101" charset="-122"/>
              </a:rPr>
              <a:t>.</a:t>
            </a:r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补充分析及结论</a:t>
            </a:r>
            <a:endParaRPr lang="zh-CN" altLang="en-US" sz="2000" b="1" i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5585" y="887095"/>
            <a:ext cx="6640830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/>
              <a:t>1. Guess 1 vs Guess 2 </a:t>
            </a:r>
            <a:r>
              <a:rPr lang="zh-CN" altLang="en-US" sz="2000" b="1"/>
              <a:t>差异检验和</a:t>
            </a:r>
            <a:r>
              <a:rPr lang="en-US" altLang="zh-CN" sz="2000" b="1"/>
              <a:t>Averaging Benefit </a:t>
            </a:r>
            <a:r>
              <a:rPr lang="zh-CN" altLang="en-US" sz="2000" b="1"/>
              <a:t>比较</a:t>
            </a:r>
            <a:endParaRPr lang="zh-CN" altLang="en-US" sz="2000" b="1"/>
          </a:p>
          <a:p>
            <a:endParaRPr lang="en-US" altLang="zh-CN"/>
          </a:p>
          <a:p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  <p:graphicFrame>
        <p:nvGraphicFramePr>
          <p:cNvPr id="8" name="表格 7"/>
          <p:cNvGraphicFramePr/>
          <p:nvPr/>
        </p:nvGraphicFramePr>
        <p:xfrm>
          <a:off x="106045" y="1729105"/>
          <a:ext cx="11376660" cy="192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1605"/>
                <a:gridCol w="3358515"/>
                <a:gridCol w="5336540"/>
              </a:tblGrid>
              <a:tr h="0"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分析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对应原文结果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zh-CN" altLang="en-US" sz="1400"/>
                        <a:t>数值 </a:t>
                      </a:r>
                      <a:r>
                        <a:rPr lang="en-US" altLang="zh-CN" sz="1400"/>
                        <a:t>/ t / p / dz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Delayed: Guess 1 vs Guess 2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Results 3.2 “second guesses were less accurate than first guesses”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Guess 1 MSE = 517, Guess 2 MSE = 589, t(139) = -2.91, p = .004, dz = -0.25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Immediate: Guess 1 vs Guess 2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Results 3.2 “second guesses were less accurate than first guesses”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Guess 1 MSE = 589, Guess 2 MSE = 615, t(470) = -2.25, p = .025, dz = -0.10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Averaging benefit based on Guess 1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Results 3.2 delayed vs immediate comparison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Immediate: benefit = 48, Delayed: benefit = 50, t(609) = 0.18, p = .858, d = 0.02 → </a:t>
                      </a:r>
                      <a:r>
                        <a:rPr lang="zh-CN" altLang="en-US" sz="1400"/>
                        <a:t>不显著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Averaging benefit based on Guess 2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Results 3.3 post-hoc comparison</a:t>
                      </a:r>
                      <a:endParaRPr lang="en-US" altLang="zh-CN" sz="1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400"/>
                        <a:t>Immediate: benefit = 73, Delayed: benefit = 121, t(609) = 3.14, p = .002, d = 0.30 → </a:t>
                      </a:r>
                      <a:r>
                        <a:rPr lang="zh-CN" altLang="en-US" sz="1400"/>
                        <a:t>显著</a:t>
                      </a:r>
                      <a:endParaRPr lang="zh-CN" altLang="en-US" sz="14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83540" y="143668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/>
              <a:t>Steegen et al. (2014)</a:t>
            </a:r>
            <a:r>
              <a:rPr lang="en-US" altLang="zh-CN" sz="1600"/>
              <a:t> 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235585" y="376459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/>
              <a:t>本复现研究</a:t>
            </a:r>
            <a:r>
              <a:rPr lang="en-US" altLang="zh-CN" sz="1600"/>
              <a:t> </a:t>
            </a:r>
            <a:endParaRPr lang="en-US" altLang="zh-CN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5" y="4248785"/>
            <a:ext cx="11624310" cy="13900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" name="任意多边形: 形状 282"/>
          <p:cNvSpPr/>
          <p:nvPr>
            <p:custDataLst>
              <p:tags r:id="rId1"/>
            </p:custDataLst>
          </p:nvPr>
        </p:nvSpPr>
        <p:spPr>
          <a:xfrm rot="16200000">
            <a:off x="11262312" y="5580908"/>
            <a:ext cx="595109" cy="593883"/>
          </a:xfrm>
          <a:custGeom>
            <a:avLst/>
            <a:gdLst>
              <a:gd name="connsiteX0" fmla="*/ 596786 w 596786"/>
              <a:gd name="connsiteY0" fmla="*/ 457879 h 595556"/>
              <a:gd name="connsiteX1" fmla="*/ 596786 w 596786"/>
              <a:gd name="connsiteY1" fmla="*/ 594291 h 595556"/>
              <a:gd name="connsiteX2" fmla="*/ 136413 w 596786"/>
              <a:gd name="connsiteY2" fmla="*/ 594291 h 595556"/>
              <a:gd name="connsiteX3" fmla="*/ 136413 w 596786"/>
              <a:gd name="connsiteY3" fmla="*/ 595556 h 595556"/>
              <a:gd name="connsiteX4" fmla="*/ 0 w 596786"/>
              <a:gd name="connsiteY4" fmla="*/ 595556 h 595556"/>
              <a:gd name="connsiteX5" fmla="*/ 0 w 596786"/>
              <a:gd name="connsiteY5" fmla="*/ 0 h 595556"/>
              <a:gd name="connsiteX6" fmla="*/ 136413 w 596786"/>
              <a:gd name="connsiteY6" fmla="*/ 0 h 595556"/>
              <a:gd name="connsiteX7" fmla="*/ 136413 w 596786"/>
              <a:gd name="connsiteY7" fmla="*/ 457879 h 59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786" h="595556">
                <a:moveTo>
                  <a:pt x="596786" y="457879"/>
                </a:moveTo>
                <a:lnTo>
                  <a:pt x="596786" y="594291"/>
                </a:lnTo>
                <a:lnTo>
                  <a:pt x="136413" y="594291"/>
                </a:lnTo>
                <a:lnTo>
                  <a:pt x="136413" y="595556"/>
                </a:lnTo>
                <a:lnTo>
                  <a:pt x="0" y="595556"/>
                </a:lnTo>
                <a:lnTo>
                  <a:pt x="0" y="0"/>
                </a:lnTo>
                <a:lnTo>
                  <a:pt x="136413" y="0"/>
                </a:lnTo>
                <a:lnTo>
                  <a:pt x="136413" y="457879"/>
                </a:lnTo>
                <a:close/>
              </a:path>
            </a:pathLst>
          </a:custGeom>
          <a:solidFill>
            <a:srgbClr val="006A44">
              <a:alpha val="99000"/>
            </a:srgbClr>
          </a:solidFill>
          <a:ln w="33259" cap="flat">
            <a:noFill/>
            <a:prstDash val="solid"/>
            <a:miter/>
          </a:ln>
        </p:spPr>
        <p:txBody>
          <a:bodyPr wrap="square" rtlCol="0" anchor="ctr">
            <a:noAutofit/>
          </a:bodyPr>
          <a:p>
            <a:endParaRPr lang="zh-CN" altLang="en-US" sz="24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6702425"/>
            <a:ext cx="12192000" cy="155575"/>
          </a:xfrm>
          <a:prstGeom prst="rect">
            <a:avLst/>
          </a:prstGeom>
          <a:solidFill>
            <a:srgbClr val="006A4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244600" y="327660"/>
            <a:ext cx="909891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四</a:t>
            </a:r>
            <a:r>
              <a:rPr lang="en-US" altLang="zh-CN" sz="2000" b="1" i="1">
                <a:latin typeface="黑体" panose="02010609060101010101" charset="-122"/>
                <a:ea typeface="黑体" panose="02010609060101010101" charset="-122"/>
              </a:rPr>
              <a:t>.</a:t>
            </a:r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补充分析及结论</a:t>
            </a:r>
            <a:endParaRPr lang="zh-CN" altLang="en-US" sz="2000" b="1" i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5585" y="887095"/>
            <a:ext cx="6096000" cy="1506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/>
              <a:t>1. Guess 1 vs Guess 2 </a:t>
            </a:r>
            <a:r>
              <a:rPr lang="zh-CN" altLang="en-US" sz="2000" b="1"/>
              <a:t>差异检验</a:t>
            </a:r>
            <a:endParaRPr lang="zh-CN" altLang="en-US" sz="2000" b="1"/>
          </a:p>
          <a:p>
            <a:endParaRPr lang="en-US" altLang="zh-CN"/>
          </a:p>
          <a:p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40970" y="145573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/>
              <a:t>Steegen et al. (2014)</a:t>
            </a:r>
            <a:r>
              <a:rPr lang="en-US" altLang="zh-CN" sz="1600"/>
              <a:t> 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235585" y="376459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/>
              <a:t>本复现研究</a:t>
            </a:r>
            <a:r>
              <a:rPr lang="en-US" altLang="zh-CN" sz="1600"/>
              <a:t> </a:t>
            </a:r>
            <a:endParaRPr lang="en-US" altLang="zh-CN" sz="16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520" y="1329690"/>
            <a:ext cx="4034155" cy="27228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1320"/>
            <a:ext cx="11710670" cy="17043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5" y="2282825"/>
            <a:ext cx="4157345" cy="14757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922655"/>
            <a:ext cx="11133455" cy="12941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24605"/>
            <a:ext cx="12192000" cy="21151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575" y="6005830"/>
            <a:ext cx="2628900" cy="695325"/>
          </a:xfrm>
          <a:prstGeom prst="rect">
            <a:avLst/>
          </a:prstGeom>
        </p:spPr>
      </p:pic>
      <p:sp>
        <p:nvSpPr>
          <p:cNvPr id="14" name="箭头: V 形 3"/>
          <p:cNvSpPr/>
          <p:nvPr/>
        </p:nvSpPr>
        <p:spPr>
          <a:xfrm flipV="1">
            <a:off x="554355" y="329565"/>
            <a:ext cx="377190" cy="436880"/>
          </a:xfrm>
          <a:prstGeom prst="chevron">
            <a:avLst/>
          </a:prstGeom>
          <a:solidFill>
            <a:srgbClr val="006A4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15" name="箭头: V 形 4"/>
          <p:cNvSpPr/>
          <p:nvPr/>
        </p:nvSpPr>
        <p:spPr>
          <a:xfrm flipV="1">
            <a:off x="867410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006A44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337297" y="751736"/>
            <a:ext cx="10519410" cy="0"/>
          </a:xfrm>
          <a:prstGeom prst="line">
            <a:avLst/>
          </a:prstGeom>
          <a:noFill/>
          <a:ln w="6350" cap="flat" cmpd="sng" algn="ctr">
            <a:solidFill>
              <a:srgbClr val="293247"/>
            </a:solidFill>
            <a:prstDash val="lgDash"/>
            <a:miter lim="800000"/>
            <a:tailEnd type="oval"/>
          </a:ln>
          <a:effectLst/>
        </p:spPr>
      </p:cxnSp>
      <p:sp>
        <p:nvSpPr>
          <p:cNvPr id="18" name="箭头: V 形 8"/>
          <p:cNvSpPr/>
          <p:nvPr/>
        </p:nvSpPr>
        <p:spPr>
          <a:xfrm flipV="1">
            <a:off x="235585" y="325120"/>
            <a:ext cx="377190" cy="436880"/>
          </a:xfrm>
          <a:prstGeom prst="chevron">
            <a:avLst/>
          </a:prstGeom>
          <a:solidFill>
            <a:srgbClr val="FFFFFF"/>
          </a:solidFill>
          <a:ln w="1270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rtlCol="0" anchor="ctr"/>
          <a:p>
            <a:pPr algn="ctr"/>
            <a:endParaRPr lang="zh-CN" altLang="en-US" sz="1350" dirty="0">
              <a:solidFill>
                <a:srgbClr val="000000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  <a:sym typeface="思源宋体 CN Light" panose="02020300000000000000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44600" y="327660"/>
            <a:ext cx="909891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五</a:t>
            </a:r>
            <a:r>
              <a:rPr lang="en-US" altLang="zh-CN" sz="2000" b="1" i="1">
                <a:latin typeface="黑体" panose="02010609060101010101" charset="-122"/>
                <a:ea typeface="黑体" panose="02010609060101010101" charset="-122"/>
              </a:rPr>
              <a:t>.</a:t>
            </a:r>
            <a:r>
              <a:rPr lang="zh-CN" altLang="en-US" sz="2000" b="1" i="1">
                <a:latin typeface="黑体" panose="02010609060101010101" charset="-122"/>
                <a:ea typeface="黑体" panose="02010609060101010101" charset="-122"/>
              </a:rPr>
              <a:t>复现结果总结</a:t>
            </a:r>
            <a:endParaRPr lang="zh-CN" altLang="en-US" sz="2000" b="1" i="1"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直角三角形 4"/>
          <p:cNvSpPr/>
          <p:nvPr/>
        </p:nvSpPr>
        <p:spPr>
          <a:xfrm rot="5400000">
            <a:off x="0" y="0"/>
            <a:ext cx="3716655" cy="3716655"/>
          </a:xfrm>
          <a:prstGeom prst="rtTriangle">
            <a:avLst/>
          </a:prstGeom>
          <a:solidFill>
            <a:srgbClr val="006A4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直角三角形 5"/>
          <p:cNvSpPr/>
          <p:nvPr/>
        </p:nvSpPr>
        <p:spPr>
          <a:xfrm rot="16200000">
            <a:off x="8484870" y="3169920"/>
            <a:ext cx="3716655" cy="3716655"/>
          </a:xfrm>
          <a:prstGeom prst="rtTriangle">
            <a:avLst/>
          </a:prstGeom>
          <a:solidFill>
            <a:srgbClr val="006A4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42570" y="680085"/>
            <a:ext cx="11707495" cy="55022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42570" y="680085"/>
            <a:ext cx="11707495" cy="5502275"/>
          </a:xfrm>
          <a:prstGeom prst="rect">
            <a:avLst/>
          </a:prstGeom>
          <a:blipFill rotWithShape="1">
            <a:blip r:embed="rId1">
              <a:alphaModFix amt="15000"/>
            </a:blip>
            <a:stretch>
              <a:fillRect/>
            </a:stretch>
          </a:blipFill>
          <a:ln>
            <a:noFill/>
          </a:ln>
          <a:effectLst>
            <a:outerShdw blurRad="127000" dist="635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517015" y="3129280"/>
            <a:ext cx="9620250" cy="922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zh-CN" altLang="en-US" sz="54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恳请各位老师批评指正</a:t>
            </a:r>
            <a:endParaRPr lang="zh-CN" altLang="en-US" sz="54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" name="图片 1" descr="南京师范大学（黑）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565" y="-30480"/>
            <a:ext cx="5464282" cy="3862800"/>
          </a:xfrm>
          <a:prstGeom prst="rect">
            <a:avLst/>
          </a:prstGeom>
        </p:spPr>
      </p:pic>
      <p:pic>
        <p:nvPicPr>
          <p:cNvPr id="15" name="图片 14" descr="校徽-绿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075" y="718185"/>
            <a:ext cx="1530985" cy="216662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5137785" y="5163820"/>
            <a:ext cx="224726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答辩时间：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XX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r>
              <a:rPr lang="en-US" alt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XX</a:t>
            </a: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</a:t>
            </a:r>
            <a:endParaRPr lang="zh-CN" alt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TABLE_ENDDRAG_ORIGIN_RECT" val="788*393"/>
  <p:tag name="TABLE_ENDDRAG_RECT" val="48*129*788*393"/>
</p:tagLst>
</file>

<file path=ppt/tags/tag7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3"/>
  <p:tag name="KSO_WM_UNIT_ID" val="diagram20215445_1*ζ_h_i*1_1_3"/>
  <p:tag name="KSO_WM_TEMPLATE_CATEGORY" val="diagram"/>
  <p:tag name="KSO_WM_TEMPLATE_INDEX" val="20215445"/>
  <p:tag name="KSO_WM_UNIT_LAYERLEVEL" val="1_1_1"/>
  <p:tag name="KSO_WM_TAG_VERSION" val="1.0"/>
  <p:tag name="KSO_WM_BEAUTIFY_FLAG" val="#wm#"/>
  <p:tag name="KSO_WM_UNIT_PICTURE_TOWARD" val="1"/>
  <p:tag name="KSO_WM_UNIT_DIAGRAM_MODELTYPE" val="creativePicture"/>
  <p:tag name="KSO_WM_UNIT_USESOURCEFORMAT_APPLY" val="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19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  <p:tag name="KSO_WM_SLIDE_ID" val="diagram20217032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SLIDE_LAYOUT_INFO" val="{&quot;direction&quot;:1,&quot;id&quot;:&quot;2021-04-01T16:15:33&quot;,&quot;maxSize&quot;:{&quot;size1&quot;:58.799999999999997},&quot;minSize&quot;:{&quot;size1&quot;:38.799999999999997},&quot;normalSize&quot;:{&quot;size1&quot;:58.79999999999999},&quot;subLayout&quot;:[{&quot;id&quot;:&quot;2021-04-01T16:15:33&quot;,&quot;margin&quot;:{&quot;bottom&quot;:1.6929999589920044,&quot;left&quot;:2.1170001029968262,&quot;right&quot;:0,&quot;top&quot;:1.6929999589920044},&quot;type&quot;:0},{&quot;id&quot;:&quot;2021-04-01T16:15:33&quot;,&quot;margin&quot;:{&quot;bottom&quot;:1.6929999589920044,&quot;left&quot;:1.6929999589920044,&quot;right&quot;:1.6929999589920044,&quot;top&quot;:1.6929999589920044}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df195998712faa657ab87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046a24402aa84fab9950226b440a17c8&quot;,&quot;fill_align&quot;:&quot;cm&quot;,&quot;chip_types&quot;:[&quot;picture&quot;]},{&quot;text_align&quot;:&quot;lb&quot;,&quot;text_direction&quot;:&quot;horizontal&quot;,&quot;support_big_font&quot;:true,&quot;picture_toward&quot;:0,&quot;picture_dockside&quot;:[],&quot;fill_id&quot;:&quot;20916184201d4f298034d43814fcc4fa&quot;,&quot;fill_align&quot;:&quot;lb&quot;,&quot;chip_types&quot;:[&quot;text&quot;]}]]"/>
  <p:tag name="KSO_WM_CHIP_DECFILLPROP" val="[]"/>
  <p:tag name="KSO_WM_SLIDE_TYPE" val="text"/>
  <p:tag name="KSO_WM_SLIDE_SIZE" val="888*348"/>
  <p:tag name="KSO_WM_SLIDE_POSITION" val="0*95"/>
  <p:tag name="KSO_WM_CHIP_GROUPID" val="5fadf195998712faa657ab86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3f4054ed1e2fb81493"/>
  <p:tag name="KSO_WM_TEMPLATE_ASSEMBLE_GROUPID" val="6065703f4054ed1e2fb81493"/>
</p:tagLst>
</file>

<file path=ppt/tags/tag20.xml><?xml version="1.0" encoding="utf-8"?>
<p:tagLst xmlns:p="http://schemas.openxmlformats.org/presentationml/2006/main">
  <p:tag name="KSO_WM_BEAUTIFY_FLAG" val="#wm#"/>
  <p:tag name="KSO_WM_TEMPLATE_CATEGORY" val="diagram"/>
  <p:tag name="KSO_WM_TEMPLATE_INDEX" val="20217032"/>
</p:tagLst>
</file>

<file path=ppt/tags/tag21.xml><?xml version="1.0" encoding="utf-8"?>
<p:tagLst xmlns:p="http://schemas.openxmlformats.org/presentationml/2006/main">
  <p:tag name="KSO_WM_DIAGRAM_VIRTUALLY_FRAME" val="{&quot;height&quot;:366.7974853515625,&quot;left&quot;:53.2915771484375,&quot;top&quot;:120.6186982691006,&quot;width&quot;:856.016845703125}"/>
</p:tagLst>
</file>

<file path=ppt/tags/tag22.xml><?xml version="1.0" encoding="utf-8"?>
<p:tagLst xmlns:p="http://schemas.openxmlformats.org/presentationml/2006/main">
  <p:tag name="commondata" val="eyJoZGlkIjoiNzkwNzI2MWI5ZmNlYmI0MDZiNjg1NDNhOTJjMDUwYj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3609</Words>
  <Application>WPS 演示</Application>
  <PresentationFormat>宽屏</PresentationFormat>
  <Paragraphs>179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黑体</vt:lpstr>
      <vt:lpstr>等线</vt:lpstr>
      <vt:lpstr>思源宋体 CN Light</vt:lpstr>
      <vt:lpstr>思源黑体 CN Light</vt:lpstr>
      <vt:lpstr>Times New Roman</vt:lpstr>
      <vt:lpstr>Arial</vt:lpstr>
      <vt:lpstr>Calibri</vt:lpstr>
      <vt:lpstr>Arial Unicode MS</vt:lpstr>
      <vt:lpstr>Times New Roman</vt:lpstr>
      <vt:lpstr>思源宋体 CN Light</vt:lpstr>
      <vt:lpstr>思源黑体 CN Light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huanglanlan</dc:creator>
  <cp:lastModifiedBy>WPS_1727078609</cp:lastModifiedBy>
  <cp:revision>113</cp:revision>
  <dcterms:created xsi:type="dcterms:W3CDTF">2023-08-09T12:44:00Z</dcterms:created>
  <dcterms:modified xsi:type="dcterms:W3CDTF">2026-07-05T07:28:45Z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9AB1C82905194B33BBD850FB3980AC69_13</vt:lpwstr>
  </property>
  <property fmtid="{D5CDD505-2E9C-101B-9397-08002B2CF9AE}" pid="3" name="KSOProductBuildVer">
    <vt:lpwstr>2052-12.1.0.26895</vt:lpwstr>
  </property>
</Properties>
</file>